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79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1" r:id="rId22"/>
    <p:sldId id="282" r:id="rId23"/>
    <p:sldId id="283" r:id="rId24"/>
    <p:sldId id="284" r:id="rId25"/>
    <p:sldId id="285" r:id="rId26"/>
    <p:sldId id="288" r:id="rId27"/>
    <p:sldId id="286" r:id="rId28"/>
    <p:sldId id="287" r:id="rId29"/>
    <p:sldId id="275" r:id="rId30"/>
    <p:sldId id="276" r:id="rId31"/>
    <p:sldId id="277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5F"/>
    <a:srgbClr val="1A7A4A"/>
    <a:srgbClr val="92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234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311FB-3463-93A7-148F-FFB286FC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BCDD5-2023-571E-D6C6-DB8B59969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3C305-4027-D6E8-C051-AF7C57DBB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8ECA3-582C-0FA4-FFCE-65476F18E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1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6264-02B3-08FB-439A-5F90F4F0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5268D-2BB3-78EC-87A5-16039EBD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EFE74-DF69-4AAB-4C31-A9C7F8879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4C4F-6A3F-5201-923A-6C00A8CC0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05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9D831-5518-028A-11FE-1392C5CE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ED210-5CC4-F47B-4CF7-3B1BE24E9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88617-E00B-3E80-F864-71267580D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CBE19-E47F-56CA-DFCA-7C3B9CA15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98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F72C-605A-BD97-44B1-E36EDB98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CAA05-29DF-774D-7079-FD68AD544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CB3EB-7A6B-84A4-13C6-41AD03AE3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C868-7D5A-4475-0609-B63B3AE99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49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924A-6866-0D38-60D4-E4DBBC7B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82C6C-BB35-2713-4A15-6627A1F49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5825E-C3A9-EBC1-D43D-EBFC54D37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8DD8A-08E5-994C-61E8-A9BCC925E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37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E87A-74B6-B371-67A8-E7D97D7C9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0BB54-9B31-9D76-F0F4-C7B82B6C9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28451-E3AB-1D2F-12D2-054876588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B235B-7151-6F5B-9255-6384F7903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20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6CF09-05FE-4C7F-8700-DA08E0D0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643D-BE3B-2D88-F245-07B6A6495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1FF86-0285-436E-FE21-571724343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E16C4-65F5-9B39-731E-473B50B0A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65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56491-93D3-0E06-2AA4-C8E1F7A3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28B76-FC05-2BD9-120D-0D9596812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77BD6-5BCA-4EB3-9E86-1143D2C5F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5D9C7-6BB3-4A34-9F84-2AC0A438E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7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870F-F826-6B3C-4A28-C7C2254D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53D54-7024-493B-092F-69B2A191F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5D2B1-6A3E-3A8D-ED3C-FF73D735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CDEDB-0A4B-7496-7285-DE979DDD7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451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41E3-90DB-6650-DEBA-BE194673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5D3A0-EAA2-19DE-2C8E-58EFC49FA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D5FE5-0A9A-0CA2-E01B-01801E9D1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62B19-19DA-7337-9760-8A3D068DB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742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848"/>
          </a:solidFill>
          <a:ln w="12700">
            <a:solidFill>
              <a:srgbClr val="142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🏪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45920" y="502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VendreFacile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45920" y="12618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 · TP Groupe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64592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 Modulaire  ·  DDD  ·  TDD  ·  PostgreSQL Cluster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  ·  Redis  ·  Architecture Hexagonale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98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4498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 · Soutenance 10-15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93192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75488" cy="1737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32688" y="10698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du besoin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47218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· Contraintes · User stories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393192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475488" cy="1737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84648" y="10698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Logicielle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84648" y="147218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Monolithe modulaire · DDD · Hexagonale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3931920" cy="731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75488" cy="1737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2688" y="31729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Données Distribuée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357530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CAP · Réplication · Sharding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0632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3063240"/>
            <a:ext cx="3931920" cy="7315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3063240"/>
            <a:ext cx="475488" cy="17373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361188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184648" y="31729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 &amp; Sécurité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84648" y="3575304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RGPD · Synthèse · Vision V2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Problématique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permettre à n'importe quel particulier de vendre un objet d'occasion en ligne,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D4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simplement, gratuitement, et avec la garantie d'une disponibilité 24h/24 même à forte charge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138160" cy="621792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542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980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 18-45 ans souhaitant vendre/acheter d'occasion sans frais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8138160" cy="621792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Valeur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5478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rapide (&lt;2 min pour publier), disponible 24/7, moteur de recherche avancé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8138160" cy="621792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Inspiré 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LeBonCoin — mais conçu dès le départ pour scaler à 10 000+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4 contraintes qui pilotent tout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92024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955341"/>
            <a:ext cx="1737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8452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PostgreSQL + Patroni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auto &lt; 30s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9144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192024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05156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60320" y="2955341"/>
            <a:ext cx="1737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simultanés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28452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stateless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192024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05156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200ms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09160" y="2955341"/>
            <a:ext cx="1737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max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28452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sur les recherches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PostgreSQL optimisés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91440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914400"/>
            <a:ext cx="1920240" cy="7315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051560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RGPD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0" y="2955341"/>
            <a:ext cx="1737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protégées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284525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AES-256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l'oubli + consentement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Fonctionnalités — MVP vs V2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MVP — Inclus maintenant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350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35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Gestion des annonces (CRUD)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4023360" cy="402336"/>
          </a:xfrm>
          <a:prstGeom prst="rect">
            <a:avLst/>
          </a:prstGeom>
          <a:solidFill>
            <a:srgbClr val="F0F9F4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922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Comptes utilisateurs + OAuth (Google/Facebook)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2494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Messagerie intégrée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06624"/>
            <a:ext cx="4023360" cy="402336"/>
          </a:xfrm>
          <a:prstGeom prst="rect">
            <a:avLst/>
          </a:prstGeom>
          <a:solidFill>
            <a:srgbClr val="F0F9F4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7066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Moteur de recherche multi-critères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163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Gestion de profil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4023360" cy="402336"/>
          </a:xfrm>
          <a:prstGeom prst="rect">
            <a:avLst/>
          </a:prstGeom>
          <a:solidFill>
            <a:srgbClr val="F0F9F4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621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Favoris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4560263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4560263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Modération + </a:t>
            </a:r>
            <a:r>
              <a:rPr lang="en-US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914400"/>
            <a:ext cx="4023360" cy="40233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914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⏳  V2 — Évolutions futures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3350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335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Géolocalisation (Google Maps)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1792224"/>
            <a:ext cx="4023360" cy="402336"/>
          </a:xfrm>
          <a:prstGeom prst="rect">
            <a:avLst/>
          </a:prstGeom>
          <a:solidFill>
            <a:srgbClr val="D5E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17922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Paiement sécurisé (Stripe)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2494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22494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Messagerie temps réel (WebSocket)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706624"/>
            <a:ext cx="4023360" cy="402336"/>
          </a:xfrm>
          <a:prstGeom prst="rect">
            <a:avLst/>
          </a:prstGeom>
          <a:solidFill>
            <a:srgbClr val="D5E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7066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Comptes professionnels vérifiés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1638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163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Alertes &amp; notifications 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621024"/>
            <a:ext cx="4023360" cy="402336"/>
          </a:xfrm>
          <a:prstGeom prst="rect">
            <a:avLst/>
          </a:prstGeom>
          <a:solidFill>
            <a:srgbClr val="D5E8F0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6210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Applications mobiles natives (iOS/Android)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40782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40782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Suggestions IA (prix conseillé)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4615127"/>
            <a:ext cx="128016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89520" y="4615127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Stories — Exemples clés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64008" cy="8778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051560"/>
            <a:ext cx="749808" cy="2377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0515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0149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que vendeur, je veux publier une annonce en &lt; 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4356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 /annonces → 201. Visible dans la recherche en &lt; 1 min. Validation : prix &gt; 0, titre 5-100 chars.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64008" cy="87782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2039112"/>
            <a:ext cx="749808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0391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0025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qu'acheteur, je veux chercher un vélo à Paris &lt; 200€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4231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/annonces?categorie=vélo&amp;ville=Paris&amp;prixMax=200 → résultats en &lt; 200ms grâce au cache Redis.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35224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935224"/>
            <a:ext cx="64008" cy="87782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3026664"/>
            <a:ext cx="749808" cy="23774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0266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29900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qu'acheteur, je veux contacter le vendeur directement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41071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 /conversations → 201. Notification email au vendeur via SendGrid en &lt; 5s.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22776"/>
            <a:ext cx="8503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922776"/>
            <a:ext cx="64008" cy="87782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" y="4014216"/>
            <a:ext cx="749808" cy="23774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40142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39776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tant qu'utilisateur, je veux supprimer mes données (RGPD)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439826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DELETE /users/:id → anonymisation en cascade des données PII. Email de confirmation.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6459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21031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Logicielle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3310128"/>
            <a:ext cx="128016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04A1-F267-DA5B-53BB-7F388040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08880E-396C-6FE9-11DC-BA84DE438D9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4A5AF4-028A-4127-F324-877B2FBA15F4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F0F42F-DBCE-7A21-7646-C3FB1B4173FB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- Use cases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98D0E2-B0A0-51F7-8F8E-3187F0DCE05B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9442A3-76B9-EFEC-BA6C-5CD0FB0EC6D7}"/>
              </a:ext>
            </a:extLst>
          </p:cNvPr>
          <p:cNvSpPr/>
          <p:nvPr/>
        </p:nvSpPr>
        <p:spPr>
          <a:xfrm>
            <a:off x="411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D1CBF88-D1B1-3CDF-762E-36F11C071776}"/>
              </a:ext>
            </a:extLst>
          </p:cNvPr>
          <p:cNvSpPr/>
          <p:nvPr/>
        </p:nvSpPr>
        <p:spPr>
          <a:xfrm>
            <a:off x="411480" y="91440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2F53886-11C1-7D20-F15B-8046B3241B45}"/>
              </a:ext>
            </a:extLst>
          </p:cNvPr>
          <p:cNvSpPr/>
          <p:nvPr/>
        </p:nvSpPr>
        <p:spPr>
          <a:xfrm>
            <a:off x="411480" y="1645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08C28DC-63BC-2B54-7821-C9F479A5C6A2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B46428-C0DF-4B7D-D28A-583C833C0866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0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B1AD2DEB-5170-5F2F-9598-FB86FEBE21A2}"/>
              </a:ext>
            </a:extLst>
          </p:cNvPr>
          <p:cNvSpPr/>
          <p:nvPr/>
        </p:nvSpPr>
        <p:spPr>
          <a:xfrm rot="10800000">
            <a:off x="414210" y="4443984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6628D4FC-030B-E6FC-6836-B8A565E7C447}"/>
              </a:ext>
            </a:extLst>
          </p:cNvPr>
          <p:cNvSpPr/>
          <p:nvPr/>
        </p:nvSpPr>
        <p:spPr>
          <a:xfrm>
            <a:off x="414210" y="4153833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89A90BC1-65C4-E7AC-ED4A-839DD40D6EA3}"/>
              </a:ext>
            </a:extLst>
          </p:cNvPr>
          <p:cNvSpPr/>
          <p:nvPr/>
        </p:nvSpPr>
        <p:spPr>
          <a:xfrm>
            <a:off x="8412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845D3979-C5EC-E932-D2AD-799CCDAA09F6}"/>
              </a:ext>
            </a:extLst>
          </p:cNvPr>
          <p:cNvSpPr/>
          <p:nvPr/>
        </p:nvSpPr>
        <p:spPr>
          <a:xfrm>
            <a:off x="8696945" y="923544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C3F23C4F-DFD9-BA0B-C52A-69973CD1CCAF}"/>
              </a:ext>
            </a:extLst>
          </p:cNvPr>
          <p:cNvSpPr/>
          <p:nvPr/>
        </p:nvSpPr>
        <p:spPr>
          <a:xfrm>
            <a:off x="8451331" y="4446668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8817B79-111F-FFF4-7549-7003708C98FA}"/>
              </a:ext>
            </a:extLst>
          </p:cNvPr>
          <p:cNvSpPr/>
          <p:nvPr/>
        </p:nvSpPr>
        <p:spPr>
          <a:xfrm>
            <a:off x="8740436" y="416052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8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A2D78019-BD5D-EAE2-5204-CBADABE71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04" y="1004300"/>
            <a:ext cx="4189058" cy="334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6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5D94-AF3E-327F-DDE0-AD8AC616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37D1EB-D066-101D-34C6-D127E43C375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56B4BD-F9C3-C801-BF0F-97F38136AA0E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F501CB-65B1-1041-55D4-D56999CE3C0C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-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et de sequence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5EEFC3-886E-AF8C-BA3B-A2080EC2D4DB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D460D32-9ECE-4118-5C6E-F34F57E10372}"/>
              </a:ext>
            </a:extLst>
          </p:cNvPr>
          <p:cNvSpPr/>
          <p:nvPr/>
        </p:nvSpPr>
        <p:spPr>
          <a:xfrm>
            <a:off x="411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86F81F-E8CB-A084-4EFE-945BB94DA5A8}"/>
              </a:ext>
            </a:extLst>
          </p:cNvPr>
          <p:cNvSpPr/>
          <p:nvPr/>
        </p:nvSpPr>
        <p:spPr>
          <a:xfrm>
            <a:off x="411480" y="91440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8B3AC85-498A-1951-E786-B8CB972776B7}"/>
              </a:ext>
            </a:extLst>
          </p:cNvPr>
          <p:cNvSpPr/>
          <p:nvPr/>
        </p:nvSpPr>
        <p:spPr>
          <a:xfrm>
            <a:off x="411480" y="1645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47BA0CE-FD2D-F0DF-13BC-FAEE3CE89AE4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C01343-B755-FC99-C6A2-261C3F0E67DD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0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5391F010-42D0-35D2-F9E4-43A8BB01CEF8}"/>
              </a:ext>
            </a:extLst>
          </p:cNvPr>
          <p:cNvSpPr/>
          <p:nvPr/>
        </p:nvSpPr>
        <p:spPr>
          <a:xfrm rot="10800000">
            <a:off x="395922" y="4999311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D3A85332-8B6F-68CC-08C9-F4113AD4FFEF}"/>
              </a:ext>
            </a:extLst>
          </p:cNvPr>
          <p:cNvSpPr/>
          <p:nvPr/>
        </p:nvSpPr>
        <p:spPr>
          <a:xfrm>
            <a:off x="395922" y="470916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D5A11402-9294-3047-F768-F36893167001}"/>
              </a:ext>
            </a:extLst>
          </p:cNvPr>
          <p:cNvSpPr/>
          <p:nvPr/>
        </p:nvSpPr>
        <p:spPr>
          <a:xfrm>
            <a:off x="8412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3C508A30-FE52-775B-D1BA-9A2698246F03}"/>
              </a:ext>
            </a:extLst>
          </p:cNvPr>
          <p:cNvSpPr/>
          <p:nvPr/>
        </p:nvSpPr>
        <p:spPr>
          <a:xfrm>
            <a:off x="8696945" y="923544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C5DF12F4-0668-71A0-38D4-AD30482CC062}"/>
              </a:ext>
            </a:extLst>
          </p:cNvPr>
          <p:cNvSpPr/>
          <p:nvPr/>
        </p:nvSpPr>
        <p:spPr>
          <a:xfrm>
            <a:off x="8451331" y="4446668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9DD6CE35-BF50-83E7-1C1A-461A5FCF3C4D}"/>
              </a:ext>
            </a:extLst>
          </p:cNvPr>
          <p:cNvSpPr/>
          <p:nvPr/>
        </p:nvSpPr>
        <p:spPr>
          <a:xfrm>
            <a:off x="8740436" y="416052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9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AD879FB9-B35A-73E8-5657-79A6BCED5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85" y="850392"/>
            <a:ext cx="2005958" cy="4027932"/>
          </a:xfrm>
          <a:prstGeom prst="rect">
            <a:avLst/>
          </a:prstGeom>
        </p:spPr>
      </p:pic>
      <p:pic>
        <p:nvPicPr>
          <p:cNvPr id="12" name="Image 11" descr="Une image contenant texte, capture d’écran, diagramme, logiciel&#10;&#10;Le contenu généré par l’IA peut être incorrect.">
            <a:extLst>
              <a:ext uri="{FF2B5EF4-FFF2-40B4-BE49-F238E27FC236}">
                <a16:creationId xmlns:a16="http://schemas.microsoft.com/office/drawing/2014/main" id="{D4690DE7-0029-0C75-7831-EAAF61F28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771" y="1005385"/>
            <a:ext cx="4888622" cy="341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6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C4 — Niveau Contexte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91440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0800000">
            <a:off x="411480" y="4435261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416052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12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96945" y="923544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451331" y="4446668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40436" y="416052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5902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qui interagit avec le système et quels services externes sont utilisés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000" dirty="0"/>
          </a:p>
        </p:txBody>
      </p:sp>
      <p:pic>
        <p:nvPicPr>
          <p:cNvPr id="27" name="Image 26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E988AFA-3E52-5DFB-3561-2ECB35CE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445" y="1014974"/>
            <a:ext cx="5311110" cy="32095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C4 — Niveau Container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91440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645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11480" y="45902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Utilisateur → HTTPS → Frontend → HTTP REST → Backend → Écriture : PRIMARY   |   Lecture : REPLICAS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0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97CD6942-546C-92BE-A6EB-156741018E28}"/>
              </a:ext>
            </a:extLst>
          </p:cNvPr>
          <p:cNvSpPr/>
          <p:nvPr/>
        </p:nvSpPr>
        <p:spPr>
          <a:xfrm rot="10800000">
            <a:off x="411480" y="4435261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4B85B809-10ED-5A1A-58CE-82B8C66AD110}"/>
              </a:ext>
            </a:extLst>
          </p:cNvPr>
          <p:cNvSpPr/>
          <p:nvPr/>
        </p:nvSpPr>
        <p:spPr>
          <a:xfrm>
            <a:off x="411480" y="416052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F353BA33-8AC6-30E4-0ED4-82674C8FAA80}"/>
              </a:ext>
            </a:extLst>
          </p:cNvPr>
          <p:cNvSpPr/>
          <p:nvPr/>
        </p:nvSpPr>
        <p:spPr>
          <a:xfrm>
            <a:off x="8412480" y="914400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65767AC-9590-4E6D-52D0-0BDA6A8C95E9}"/>
              </a:ext>
            </a:extLst>
          </p:cNvPr>
          <p:cNvSpPr/>
          <p:nvPr/>
        </p:nvSpPr>
        <p:spPr>
          <a:xfrm>
            <a:off x="8696945" y="923544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6DFFAB0A-3249-AC57-EF58-6AA918036BDF}"/>
              </a:ext>
            </a:extLst>
          </p:cNvPr>
          <p:cNvSpPr/>
          <p:nvPr/>
        </p:nvSpPr>
        <p:spPr>
          <a:xfrm>
            <a:off x="8451331" y="4446668"/>
            <a:ext cx="32004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ACD8A34-3B76-F19C-F947-21142B764CD1}"/>
              </a:ext>
            </a:extLst>
          </p:cNvPr>
          <p:cNvSpPr/>
          <p:nvPr/>
        </p:nvSpPr>
        <p:spPr>
          <a:xfrm>
            <a:off x="8740436" y="4160520"/>
            <a:ext cx="36576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0" descr="Une image contenant texte, diagramme, Plan, ligne&#10;&#10;Le contenu généré par l’IA peut être incorrect.">
            <a:extLst>
              <a:ext uri="{FF2B5EF4-FFF2-40B4-BE49-F238E27FC236}">
                <a16:creationId xmlns:a16="http://schemas.microsoft.com/office/drawing/2014/main" id="{9D5B7FD5-3B68-5DC8-A6A5-E9B61F99D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29" y="970723"/>
            <a:ext cx="8247616" cy="34405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d'architecture — notre choix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domaine = service indépendant.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séparé, isolation forte.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service discovery, tracing distribué, transactions multi-services.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pour équipes &gt; 20 devs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&gt; 100k users/jour.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21608"/>
            <a:ext cx="3657600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ÉCARTÉ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25112" y="24048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39319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Monolithe Modulaire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déploiement, modules internes séparés.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séparation logique, sans complexité réseau.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microservices possible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par module en V2.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une équipe junior de 4.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721608"/>
            <a:ext cx="3657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RETENU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6459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21031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Données Distribuée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3310128"/>
            <a:ext cx="128016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Moteur — PostgreSQL vs MongoDB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(documents)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horizontal natif.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aux données peu structurées.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notre modèle 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 relationnel.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User→Annonces, Annonce→Catégorie,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User↔Favoris↔Annonce.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référentielle à gérer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manuellement → source de bugs.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21608"/>
            <a:ext cx="3657600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ÉCARTÉ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25112" y="24048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39319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16 (relationnel)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ACID multi-tables.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natives.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d'intégrité auto.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performantes.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Parfaitement adapté à notre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relationnel complexe.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ans de maturité, réplication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native via WAL.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721608"/>
            <a:ext cx="3657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RETENU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Théorème CAP — notre 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garantir que 2 propriétés sur 3 — Cohérence · Disponibilité · Tolérance aux partitions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041780"/>
            <a:ext cx="2842903" cy="80521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220" y="1041779"/>
            <a:ext cx="2944883" cy="8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Notre choix : CP — Cohérence + Partition Tolerance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40781"/>
            <a:ext cx="2568054" cy="136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toujours cohérentes entre nœuds · Un message envoyé = reçu 1 fois · Accepte indisponibilité brève si partition réseau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000" dirty="0"/>
          </a:p>
        </p:txBody>
      </p:sp>
      <p:pic>
        <p:nvPicPr>
          <p:cNvPr id="16" name="Image 15" descr="Une image contenant texte, capture d’écran, conception, carte de visite&#10;&#10;Le contenu généré par l’IA peut être incorrect.">
            <a:extLst>
              <a:ext uri="{FF2B5EF4-FFF2-40B4-BE49-F238E27FC236}">
                <a16:creationId xmlns:a16="http://schemas.microsoft.com/office/drawing/2014/main" id="{5716F218-3710-E9A0-2D79-AE3A57DA6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87" y="886968"/>
            <a:ext cx="1913286" cy="41277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Topologie du cluster — Réplication Primary/Replica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32004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914400"/>
            <a:ext cx="36576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4443984"/>
            <a:ext cx="32004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4160520"/>
            <a:ext cx="36576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12480" y="914400"/>
            <a:ext cx="32004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0" y="914400"/>
            <a:ext cx="36576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08886" y="4443984"/>
            <a:ext cx="32004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92350" y="4160520"/>
            <a:ext cx="36576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79" y="4581144"/>
            <a:ext cx="73975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: si le PRIMARY tombe → Patroni détecte en &lt; 10s → élit un REPLICA → redirection auto du trafic → &lt; 30s total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000" dirty="0"/>
          </a:p>
        </p:txBody>
      </p:sp>
      <p:pic>
        <p:nvPicPr>
          <p:cNvPr id="23" name="Image 22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A87264F9-170F-18C6-ADC5-2BAC8B060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432" y="799181"/>
            <a:ext cx="5706486" cy="37270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Sharding — Non appliqué au MVP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493776"/>
          </a:xfrm>
          <a:prstGeom prst="rect">
            <a:avLst/>
          </a:prstGeom>
          <a:solidFill>
            <a:srgbClr val="FEF0E3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Sharding écarté au MVP — Seuil de déclenchement : &gt; 100M annonces OU &gt; 100k users simultanés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64008" cy="7132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645920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charge actuelle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938528"/>
            <a:ext cx="8247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users simultanés ≈ 500 req/s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bien optimisé gère &gt; 10 000 req/s sur matériel standard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aucun besoin de sharding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64008" cy="7132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523744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Complexité</a:t>
            </a: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du sharding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2761488"/>
            <a:ext cx="8247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des données, requêtes cross-shard, transactions distribuées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triple la complexité opérationnelle sans bénéfice à notre échelle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7355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273552"/>
            <a:ext cx="64008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346704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KISS appliqué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584448"/>
            <a:ext cx="8247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complexité doit être justifiée par un besoin réel.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du sharding aujourd'hui = sur-ingénierie = violation de KISS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64008" cy="7132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4169664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V2 préparée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4407408"/>
            <a:ext cx="8247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 identifiée : région géographique (département/pays)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données est conçu pour faciliter cette migration future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Stratégie de Cache — Redis Cache-aside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438912"/>
          </a:xfrm>
          <a:prstGeom prst="rect">
            <a:avLst/>
          </a:prstGeom>
          <a:solidFill>
            <a:srgbClr val="FEF0E3"/>
          </a:solidFill>
          <a:ln w="1905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Pattern Cache-aside avec invalidation explicite — TTL de sécurité : 5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64008" cy="69494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609344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Lecture (Cache HIT)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847088"/>
            <a:ext cx="8247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Backend interroge Redis en premier.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réponse en &lt; 5ms, PostgreSQL non sollicité.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40864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40864"/>
            <a:ext cx="64008" cy="69494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414016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Lecture (Cache MISS)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2651760"/>
            <a:ext cx="8247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absente → requête PostgreSQL Replica → mise en cache + TTL 5min.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des recherches servies depuis Redis à forte charge.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45536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64008" cy="6949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218688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Invalidation explicite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456432"/>
            <a:ext cx="8247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modification d'annonce (CREATE / UPDATE / DELETE) invalide immédiatement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clés Redis concernées via le Use Case — aucune donnée obsolète en cache.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50208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64008" cy="6949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4023360"/>
            <a:ext cx="8247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⏱️ TTL de sécurité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4261104"/>
            <a:ext cx="8247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entrées Redis expirent automatiquement en 5 min.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qu'un utilisateur ne voit jamais des données vieilles de &gt; 5 min, même sans invalidation explicite.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6459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/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21031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Déploiement, Sécurité &amp;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3310128"/>
            <a:ext cx="128016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 — Docker Compose vs Kubernetes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(Dev)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unique docker-compose.yml.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pour lancer toute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locale.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d'auto-scaling, pas 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self-healing. Parfait pour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développement et les tests.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21608"/>
            <a:ext cx="3657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Développement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25112" y="240487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39319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(Production)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HPA : 3→10 pods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charge CPU/RAM.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: pods crashés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redémarrés automatiquement.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sans downtime.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image Docker en dev et prod.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721608"/>
            <a:ext cx="3657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721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Production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image Docker fonctionne dans les deux environnements — ce qui tourne en local = ce qui tourne en prod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F39D-B612-A02E-FFDD-37844780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BD4994-F9AE-1A3C-62DC-D3A3164BF34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6655B8-A8D6-BB6F-B365-6691EA6D402D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92226E-D8F6-1C19-AC12-1F5976D5EE21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DBB208-4B5A-2409-193C-D8AEA05CBEB5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41CAB9E-CC6E-AF7E-281B-B241A63BC4F9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docker compose up –d --build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C67C52F-9860-606D-AD1A-6B313F98B533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9DDA61-B574-39C2-9BDC-586B583DC030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7" name="Image 6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931765B1-3F40-B83C-992A-435B34DA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5750"/>
            <a:ext cx="9144000" cy="14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19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D53E-93C5-3EB0-B104-96E6D0AF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80778B-BE1F-F094-95E7-317CA921757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D8363C-1498-4002-CA43-DC4FA49410F4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78A852-1501-6391-1105-D98789F75B2D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32C3C2-97AA-42A8-1E44-0964BB45A748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963498D-4F85-A2FF-622D-7612F5EBFFC4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montre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tout est bien up 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2F358B8-778F-1577-AB9C-7BBC47471499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C73E947-621E-995B-E221-984D96EF11B6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8" name="Image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F146ECE-905B-D11A-545B-3F1DAB6C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94" y="1590538"/>
            <a:ext cx="7421011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43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6AF1-9447-10CF-6D0D-BA72804A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B5EAA9-09B6-689B-3D00-B58A9D5668C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84A321-366E-1D54-AB88-2B55C84011C8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DA5A69-3951-5E1B-378E-08F88F826EEE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EDEA6C-5DC4-F17E-6E63-1C681F9D4DA8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EC5A1E1-087C-B536-687F-A7C210893DAF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tests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CFBC580-C46F-3EEA-7C6D-0BB173B7CB4F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01F7720-0431-DDC9-5CA9-903777526D4A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8" name="Image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CA4E7A3-0892-50B5-AC35-955348337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575" y="2062091"/>
            <a:ext cx="4648849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49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2D31-1F1A-5EAB-F850-4BE5CC9AB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B812E3-7B34-3F15-84D1-87B34155608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4DF201-BCCD-5578-0C10-9D1108912210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BE636B-460D-EEEB-E206-19C8F7DD7BA5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6308DA-282B-09D9-E866-163C229D53F5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16F8155-90A3-B25A-AB6A-19FF8450EF54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image Docker fonctionne dans les deux environnements — ce qui tourne en local = ce qui tourne en prod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6CD2765-DD13-C4B2-0C8C-F824D3B09850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C183756-1B4E-D286-163E-DF4BC6DDE0F6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8" name="Image 7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070C9304-AFB7-82E2-CF40-FC187F93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38" y="786385"/>
            <a:ext cx="6961483" cy="379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2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55A0-ADC5-652D-72BA-19F855A5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7D30E4-EF4E-AA7E-7278-0B6068F3C5C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D51494-E5AF-C29B-66D4-68C832368733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2AD708-5E2F-F2D3-8E53-A4758256E03B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EDD584-AFD2-6069-1F6E-34287117EBAF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19E3DC6-1C24-DD3A-872E-DF6FE95FC991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des replicas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844B23-0A95-6FA2-42E7-B9492308437C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BF2C9B5-A580-CD6C-056F-60660D52A450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8" name="Image 7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7C99D77F-4CC4-84D4-32EC-BC73BD8BB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819"/>
            <a:ext cx="9144000" cy="158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46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D67D-A8EF-B344-A0FC-3DE5FE157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5E7124-9622-CCB1-C113-4D9845B76C61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93135E-2F87-D1EE-ACD2-316D5F6AD596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89A3C9-0A59-C4C2-A997-30F389617B76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BE8087-E483-024B-FAD5-C0A61E39B104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E0F185C-ADCD-962A-E99F-80AC37F20205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replicas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fonctionnes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1125A53-3401-0374-DFED-3E86E68D346D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5187DE7-E195-98F8-70FB-121F51ABD2B9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7" name="Image 6" descr="Une image contenant texte, Police, logiciel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B83B097-F18F-FCCC-2FD6-7ED3583B6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3464"/>
            <a:ext cx="9144000" cy="159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58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10B3-33A6-EF24-99B3-9163FACD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7BEC83-988D-65D4-E70A-96D8B7833CF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44AE45-4F38-78FA-5617-894FA40D71A6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43C773-D355-0986-1B28-163BA7010F81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1F7763-B15A-CECD-4B74-F1F7FD8E6EA4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949526B-C92E-B5AF-5D09-E212B9B04648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de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C1F0778-CF3B-A3FE-7E61-30402514C249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EDC4815-CFAB-E367-B5A3-CB5E1F384CD8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8" name="Image 7" descr="Une image contenant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5700C5B-3A1F-D6F4-88DF-378189ADD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9072"/>
            <a:ext cx="9144000" cy="132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652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A097-8645-D25D-D574-CE34EC39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E6AED3-0465-B835-7BFE-ABA5C571BC0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2D385D-507E-4B48-48CF-EB0E0ACD0EAE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708AC3-77E4-EC06-6DAD-0D9FC99547C1}"/>
              </a:ext>
            </a:extLst>
          </p:cNvPr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 et verifications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782692-8230-C191-22C5-C479DCC78FB3}"/>
              </a:ext>
            </a:extLst>
          </p:cNvPr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744F016-9DF5-1073-027A-2DD6CC31F923}"/>
              </a:ext>
            </a:extLst>
          </p:cNvPr>
          <p:cNvSpPr/>
          <p:nvPr/>
        </p:nvSpPr>
        <p:spPr>
          <a:xfrm>
            <a:off x="-15922" y="4636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des entrees DB dans le primary 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CB07460-1928-10D4-DC61-37962F56FD7D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9FEBD1E-7DBD-4DCA-F500-E808DC6D168F}"/>
              </a:ext>
            </a:extLst>
          </p:cNvPr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  <p:pic>
        <p:nvPicPr>
          <p:cNvPr id="7" name="Image 6" descr="Une image contenant texte, logiciel, Logiciel multimédia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3A6A00D-4EF9-F568-2ECC-0CC5A951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2584"/>
            <a:ext cx="9144000" cy="155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32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Conformité RGPD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77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64008" cy="11155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0332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JWT + Refresh 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27101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15min · Refresh 7j · Stocké Redis · Révocable instantanément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→ compatible multi-pods Kubernetes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3977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64008" cy="11155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2312" y="10332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bcrypt coût 12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2312" y="127101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~250ms / vérification → résistant GPU &amp; rainbow tables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brute-force à 100 req/min max (rate limiting Redis)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3977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64008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231343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HTTPS TLS 1.3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255117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activé · Données PII chiffrées AES-256 au repos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Let's Encrypt auto-renouvelés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240280"/>
            <a:ext cx="3977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240280"/>
            <a:ext cx="64008" cy="11155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82312" y="231343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🗑️ Droit à l'oubli RGPD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82312" y="255117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/users/:id → anonymisation en cascade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conservés sous forme anonyme ("Utilisateur supprimé")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3977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64008" cy="111556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" y="359359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Rate limiting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" y="383133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req/min par IP · 5 tentatives login max → blocage 15min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scraping, brute force, spam via Redis sliding window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520440"/>
            <a:ext cx="3977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520440"/>
            <a:ext cx="64008" cy="11155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82312" y="359359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Registre RGPD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82312" y="3831336"/>
            <a:ext cx="3721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consentement horodatés · Durée conservation définie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données personnelles GET /users/:id/data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Synthèse des choix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749808"/>
            <a:ext cx="54864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" y="7498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 Modulaire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24912" y="7498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trop complexes pour une équipe junior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1097280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097280"/>
            <a:ext cx="54864" cy="3108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" y="1097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Hexagonale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1097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Testabilité TDD maximale — domaine découplé de l'infra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1444752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1444752"/>
            <a:ext cx="54864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444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" y="1444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Bounded Contexts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24912" y="14447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· Users · Messagerie · Recherche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1792224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1792224"/>
            <a:ext cx="54864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7922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" y="17922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RED/GREEN/REFACTOR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24912" y="17922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&gt; 80% · InMemoryRepository pour les tests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2139696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2139696"/>
            <a:ext cx="54864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1396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" y="21396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principes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24912" y="21396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 · testabilité · extension sans modification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2487168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2487168"/>
            <a:ext cx="54864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2487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Règle de base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24912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complexité doit être justifiée par un besoin réel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90872" y="749808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90872" y="749808"/>
            <a:ext cx="54864" cy="3108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749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68112" y="7498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68312" y="7498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relationnel · ACID · Réplication WAL native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90872" y="1097280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90872" y="1097280"/>
            <a:ext cx="54864" cy="3108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1097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68112" y="1097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Cache-aside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68312" y="1097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&lt; 5ms · TTL 5min · Invalidation explicite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90872" y="1444752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90872" y="1444752"/>
            <a:ext cx="54864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1444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68112" y="1444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— Cohérence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68312" y="14447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+ Partition · Un message = reçu 1 fois exactement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90872" y="1792224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90872" y="1792224"/>
            <a:ext cx="54864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17922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68112" y="17922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Primary + 2 Replicas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68312" y="17922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Patroni · Failover &lt; 30s · Haute dispo 24/7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90872" y="2139696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90872" y="2139696"/>
            <a:ext cx="54864" cy="3108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00600" y="21396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68112" y="21396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 au MVP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68312" y="21396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Inutile à 10k users · Prévu V2 si &gt; 100M annonces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90872" y="2487168"/>
            <a:ext cx="4114800" cy="310896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690872" y="2487168"/>
            <a:ext cx="54864" cy="3108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00600" y="2487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68112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068312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image dev/prod · HPA 3→10 pods · Self-healing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68096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V2 — Si VendreFacile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explose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3977640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397764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📦→⚡  Microservices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47218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monolithe modulaire est conçu pour être découpé. On extrait le service Recherche en premier — le plus intensif en lecture.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960120"/>
            <a:ext cx="3977640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45152" y="960120"/>
            <a:ext cx="3977640" cy="548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2312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Sharding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82312" y="147218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 identifiée : région géographique. Migration possible sans refonte grâce au modèle de données anticipé.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423160"/>
            <a:ext cx="3977640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423160"/>
            <a:ext cx="397764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 Stripe + Maps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" y="29352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et géolocalisation déjà prévus dans l'architecture. Intégration en V2 sans toucher au core.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2423160"/>
            <a:ext cx="3977640" cy="1325880"/>
          </a:xfrm>
          <a:prstGeom prst="rect">
            <a:avLst/>
          </a:prstGeom>
          <a:solidFill>
            <a:srgbClr val="162B42"/>
          </a:solidFill>
          <a:ln w="12700">
            <a:solidFill>
              <a:srgbClr val="2A4A6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45152" y="2423160"/>
            <a:ext cx="397764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82312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PWA Mobile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82312" y="29352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avec mode hors-ligne. Même codebase React, nouvelles capacités natives.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85039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09651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pour votre attention </a:t>
            </a: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sym typeface="Wingdings" panose="05000000000000000000" pitchFamily="2" charset="2"/>
              </a:rPr>
              <a:t>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1728</Words>
  <Application>Microsoft Office PowerPoint</Application>
  <PresentationFormat>Affichage à l'écran (16:9)</PresentationFormat>
  <Paragraphs>354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VendreFacile — Architecture Logicielle</dc:title>
  <dc:subject>PptxGenJS Presentation</dc:subject>
  <dc:creator>Équipe Architecture</dc:creator>
  <cp:lastModifiedBy>Frederick Toufik</cp:lastModifiedBy>
  <cp:revision>5</cp:revision>
  <dcterms:created xsi:type="dcterms:W3CDTF">2026-02-13T14:07:09Z</dcterms:created>
  <dcterms:modified xsi:type="dcterms:W3CDTF">2026-02-13T15:16:34Z</dcterms:modified>
</cp:coreProperties>
</file>